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 Detailed Design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Complementary PWM Modes 1, 2, 3, 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FPB-RA2T1  </a:t>
            </a:r>
            <a:pPr indent="0" marL="0">
              <a:buNone/>
            </a:pPr>
            <a:r>
              <a:rPr lang="en-US" sz="13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RA2T1 Manual Sec 20.3.3.7 / 20.3.3.8  </a:t>
            </a:r>
            <a:pPr indent="0" marL="0">
              <a:buNone/>
            </a:pPr>
            <a:r>
              <a:rPr lang="en-US" sz="13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Renesas FSP / e2studio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2B3E8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7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transinh0707-debug  |  github.com/transinh0707-debug/develop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Complementary PWM?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PWM waveform generation with hardware dead time using 3 consecutive GPT16 channels.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14800" cy="82296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64008" cy="82296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(ch 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wave counter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GTPR cycle, GTDVU dead 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114800" cy="82296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834640"/>
            <a:ext cx="64008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1 (ch n+1)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200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+ GTDVU offset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Neg-phase compare match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114800" cy="822960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840480"/>
            <a:ext cx="64008" cy="82296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2 (ch n+2)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counter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0%/100% duty accuracy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Operating Modes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0" y="1600200"/>
            <a:ext cx="36576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534AB7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1600200"/>
            <a:ext cx="594360" cy="6400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6459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0" y="1673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0720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transfer at crest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2377440"/>
            <a:ext cx="36576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0" y="2377440"/>
            <a:ext cx="59436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4231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0" y="2450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2697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transfer at trough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3154680"/>
            <a:ext cx="36576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BA7517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0" y="3154680"/>
            <a:ext cx="594360" cy="64008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2004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60720" y="3227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60720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at crest and trough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0" y="3931920"/>
            <a:ext cx="36576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5A30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0" y="3931920"/>
            <a:ext cx="594360" cy="64008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39776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760720" y="4005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760720" y="4251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transfer (bypass chain)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Modes 1, 2, 3 — Initialization Flow (1/2)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RA2T1 Manual Table 20.35 — Steps 1 through 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051560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252728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Operating Mode (GTCR.MD)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0xC=Mode1 | 0xD=Mode2 | 0xE=Mode3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channel only — slaves follow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2194560"/>
            <a:ext cx="0" cy="18288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77440"/>
            <a:ext cx="4023360" cy="1051560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487168"/>
            <a:ext cx="365760" cy="36576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Count Clock (GTCR.TPCS)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prescaler select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channel — sets PWM frequency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3429000"/>
            <a:ext cx="0" cy="18288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11880"/>
            <a:ext cx="4023360" cy="105156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721608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Cycle (GTPR, GTPBR, GTPDBR)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wave period on master channel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Slaves share the cycle register value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143000"/>
            <a:ext cx="4023360" cy="105156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1252728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Pin Function (GTIOR.GTIOA/B)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1554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channels: master + slave1 + slave2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Positive-phase (GTIOCnA) + Negative-phase (GTIOCnB)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2194560"/>
            <a:ext cx="0" cy="18288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377440"/>
            <a:ext cx="4023360" cy="105156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64608" y="2487168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0352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GTCPPOn Output (GTIOR.PSYE)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channel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synchronous output enable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3429000"/>
            <a:ext cx="0" cy="18288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611880"/>
            <a:ext cx="4023360" cy="1051560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64608" y="3721608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35" name="Text 33"/>
          <p:cNvSpPr/>
          <p:nvPr/>
        </p:nvSpPr>
        <p:spPr>
          <a:xfrm>
            <a:off x="4864608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0352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Pin Output (GTIOR.OAE/OBE)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0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channels: enable GTIOCnA + GTIOCnB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and negative phase outputs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Modes 1, 2, 3 — Initialization Flow (2/2)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RA2T1 Manual Table 20.35 — Steps 7 through 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051560"/>
          </a:xfrm>
          <a:prstGeom prst="rect">
            <a:avLst/>
          </a:prstGeom>
          <a:solidFill>
            <a:srgbClr val="FAECE7"/>
          </a:solidFill>
          <a:ln w="6350">
            <a:solidFill>
              <a:srgbClr val="D85A30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252728"/>
            <a:ext cx="365760" cy="36576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Buffer Op (GTBER2.CP3DB)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3 ONLY: enable double buffer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for Mode 1 and Mode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2194560"/>
            <a:ext cx="0" cy="182880"/>
          </a:xfrm>
          <a:prstGeom prst="line">
            <a:avLst/>
          </a:prstGeom>
          <a:noFill/>
          <a:ln w="19050">
            <a:solidFill>
              <a:srgbClr val="D85A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77440"/>
            <a:ext cx="4023360" cy="1051560"/>
          </a:xfrm>
          <a:prstGeom prst="rect">
            <a:avLst/>
          </a:prstGeom>
          <a:solidFill>
            <a:srgbClr val="E6F1FB"/>
          </a:solidFill>
          <a:ln w="6350">
            <a:solidFill>
              <a:srgbClr val="378ADD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487168"/>
            <a:ext cx="365760" cy="365760"/>
          </a:xfrm>
          <a:prstGeom prst="ellipse">
            <a:avLst/>
          </a:prstGeom>
          <a:solidFill>
            <a:srgbClr val="378ADD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Compare Match (GTCCRA)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channels: initial duty cycle 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pos/neg phase transition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3429000"/>
            <a:ext cx="0" cy="182880"/>
          </a:xfrm>
          <a:prstGeom prst="line">
            <a:avLst/>
          </a:prstGeom>
          <a:noFill/>
          <a:ln w="19050">
            <a:solidFill>
              <a:srgbClr val="378A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11880"/>
            <a:ext cx="4023360" cy="1051560"/>
          </a:xfrm>
          <a:prstGeom prst="rect">
            <a:avLst/>
          </a:prstGeom>
          <a:solidFill>
            <a:srgbClr val="E6F1FB"/>
          </a:solidFill>
          <a:ln w="6350">
            <a:solidFill>
              <a:srgbClr val="378ADD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721608"/>
            <a:ext cx="365760" cy="365760"/>
          </a:xfrm>
          <a:prstGeom prst="ellipse">
            <a:avLst/>
          </a:prstGeom>
          <a:solidFill>
            <a:srgbClr val="378ADD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Buffer Value (GTCCRD/GTCCRF)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buf: GTCCRD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buf (Mode 3): GTCCRD + GTCCRF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143000"/>
            <a:ext cx="4023360" cy="1051560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1252728"/>
            <a:ext cx="365760" cy="365760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Dead Time (GTDVU)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1554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channel only — non-overlap guard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buffer op for GTDVU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2194560"/>
            <a:ext cx="0" cy="182880"/>
          </a:xfrm>
          <a:prstGeom prst="line">
            <a:avLst/>
          </a:prstGeom>
          <a:noFill/>
          <a:ln w="19050">
            <a:solidFill>
              <a:srgbClr val="BA751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377440"/>
            <a:ext cx="4023360" cy="1051560"/>
          </a:xfrm>
          <a:prstGeom prst="rect">
            <a:avLst/>
          </a:prstGeom>
          <a:solidFill>
            <a:srgbClr val="EAF3DE"/>
          </a:solidFill>
          <a:ln w="6350">
            <a:solidFill>
              <a:srgbClr val="639922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64608" y="2487168"/>
            <a:ext cx="365760" cy="365760"/>
          </a:xfrm>
          <a:prstGeom prst="ellipse">
            <a:avLst/>
          </a:prstGeom>
          <a:solidFill>
            <a:srgbClr val="639922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0352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Count (GTCR.CST = 1)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channel only — slaves auto-follow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from initial output section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3429000"/>
            <a:ext cx="0" cy="182880"/>
          </a:xfrm>
          <a:prstGeom prst="line">
            <a:avLst/>
          </a:prstGeom>
          <a:noFill/>
          <a:ln w="19050">
            <a:solidFill>
              <a:srgbClr val="6399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611880"/>
            <a:ext cx="4023360" cy="1051560"/>
          </a:xfrm>
          <a:prstGeom prst="rect">
            <a:avLst/>
          </a:prstGeom>
          <a:solidFill>
            <a:srgbClr val="EAF3DE"/>
          </a:solidFill>
          <a:ln w="6350">
            <a:solidFill>
              <a:srgbClr val="639922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64608" y="3721608"/>
            <a:ext cx="365760" cy="365760"/>
          </a:xfrm>
          <a:prstGeom prst="ellipse">
            <a:avLst/>
          </a:prstGeom>
          <a:solidFill>
            <a:srgbClr val="639922"/>
          </a:solidFill>
          <a:ln/>
        </p:spPr>
      </p:sp>
      <p:sp>
        <p:nvSpPr>
          <p:cNvPr id="35" name="Text 33"/>
          <p:cNvSpPr/>
          <p:nvPr/>
        </p:nvSpPr>
        <p:spPr>
          <a:xfrm>
            <a:off x="4864608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0352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Update GTCCRD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0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ch0 → ch1 → ch2 GTCCRD (ch2 LAST!)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ch2 triggers temp register transfer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4 — Immediate Transfer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RA2T1 Manual Section 20.3.3.8, Table 20.40  |  GTCR.MD = 0xF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 Buffer Chain (Modes 1-3)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645920" cy="502920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GTCCRD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1801368"/>
            <a:ext cx="822960" cy="0"/>
          </a:xfrm>
          <a:prstGeom prst="line">
            <a:avLst/>
          </a:prstGeom>
          <a:noFill/>
          <a:ln w="15240">
            <a:solidFill>
              <a:srgbClr val="5F5E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1554480"/>
            <a:ext cx="1645920" cy="502920"/>
          </a:xfrm>
          <a:prstGeom prst="rect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1801368"/>
            <a:ext cx="822960" cy="0"/>
          </a:xfrm>
          <a:prstGeom prst="line">
            <a:avLst/>
          </a:prstGeom>
          <a:noFill/>
          <a:ln w="15240">
            <a:solidFill>
              <a:srgbClr val="5F5E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554480"/>
            <a:ext cx="1645920" cy="5029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GTCCRC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801368"/>
            <a:ext cx="822960" cy="0"/>
          </a:xfrm>
          <a:prstGeom prst="line">
            <a:avLst/>
          </a:prstGeom>
          <a:noFill/>
          <a:ln w="15240">
            <a:solidFill>
              <a:srgbClr val="5F5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554480"/>
            <a:ext cx="1645920" cy="502920"/>
          </a:xfrm>
          <a:prstGeom prst="rect">
            <a:avLst/>
          </a:prstGeom>
          <a:solidFill>
            <a:srgbClr val="EAF3DE"/>
          </a:solidFill>
          <a:ln w="12700">
            <a:solidFill>
              <a:srgbClr val="639922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GTCCRA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7680960" cy="320040"/>
          </a:xfrm>
          <a:prstGeom prst="rect">
            <a:avLst/>
          </a:prstGeom>
          <a:solidFill>
            <a:srgbClr val="FAECE7"/>
          </a:solidFill>
          <a:ln w="10160">
            <a:solidFill>
              <a:srgbClr val="D85A3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2286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4 IMMEDIATE bypass: GTCCRD  &gt;&gt;&gt;  GTCCRA  (skips Temp A and GTCCRC)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Buffer Path (GTBER2.CP3DB = 1)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1645920" cy="502920"/>
          </a:xfrm>
          <a:prstGeom prst="rect">
            <a:avLst/>
          </a:prstGeom>
          <a:solidFill>
            <a:srgbClr val="FBEAF0"/>
          </a:solidFill>
          <a:ln w="12700">
            <a:solidFill>
              <a:srgbClr val="D4537E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5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GTCCRF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03120" y="3493008"/>
            <a:ext cx="822960" cy="0"/>
          </a:xfrm>
          <a:prstGeom prst="line">
            <a:avLst/>
          </a:prstGeom>
          <a:noFill/>
          <a:ln w="15240">
            <a:solidFill>
              <a:srgbClr val="5F5E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3246120"/>
            <a:ext cx="1645920" cy="502920"/>
          </a:xfrm>
          <a:prstGeom prst="rect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6888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5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0" y="3493008"/>
            <a:ext cx="822960" cy="0"/>
          </a:xfrm>
          <a:prstGeom prst="line">
            <a:avLst/>
          </a:prstGeom>
          <a:noFill/>
          <a:ln w="15240">
            <a:solidFill>
              <a:srgbClr val="5F5E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246120"/>
            <a:ext cx="1645920" cy="5029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8056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GTCCRE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0" y="3493008"/>
            <a:ext cx="822960" cy="0"/>
          </a:xfrm>
          <a:prstGeom prst="line">
            <a:avLst/>
          </a:prstGeom>
          <a:noFill/>
          <a:ln w="15240">
            <a:solidFill>
              <a:srgbClr val="5F5E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3246120"/>
            <a:ext cx="1645920" cy="502920"/>
          </a:xfrm>
          <a:prstGeom prst="rect">
            <a:avLst/>
          </a:prstGeom>
          <a:solidFill>
            <a:srgbClr val="EAF3DE"/>
          </a:solidFill>
          <a:ln w="12700">
            <a:solidFill>
              <a:srgbClr val="639922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9224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GTCCRA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7680960" cy="320040"/>
          </a:xfrm>
          <a:prstGeom prst="rect">
            <a:avLst/>
          </a:prstGeom>
          <a:solidFill>
            <a:srgbClr val="FBEAF0"/>
          </a:solidFill>
          <a:ln w="10160">
            <a:solidFill>
              <a:srgbClr val="D4537E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48640" y="3977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4 IMMEDIATE bypass: GTCCRF  &gt;&gt;&gt;  GTCCRA  (skips Temp B and GTCCRE)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FCEBEB"/>
          </a:solidFill>
          <a:ln w="10160">
            <a:solidFill>
              <a:srgbClr val="A32D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Slave ch2 GTCCRD must be written LAST — triggers simultaneous temp register transfer across all 3 channels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 Operation Sections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RA2T1 Manual Tables 20.30 and 20.31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600200" cy="132588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600200" cy="36576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Master: 0 to DT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count start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74520" y="1801368"/>
            <a:ext cx="13716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011680" y="1143000"/>
            <a:ext cx="1600200" cy="1325880"/>
          </a:xfrm>
          <a:prstGeom prst="rect">
            <a:avLst/>
          </a:prstGeom>
          <a:solidFill>
            <a:srgbClr val="EAF3DE"/>
          </a:solidFill>
          <a:ln w="12700">
            <a:solidFill>
              <a:srgbClr val="639922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0" y="1143000"/>
            <a:ext cx="1600200" cy="36576"/>
          </a:xfrm>
          <a:prstGeom prst="rect">
            <a:avLst/>
          </a:prstGeom>
          <a:solidFill>
            <a:srgbClr val="639922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Up-Count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1737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Master: DT+1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GTPR-DT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11880" y="1801368"/>
            <a:ext cx="13716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749040" y="1143000"/>
            <a:ext cx="1600200" cy="1325880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1143000"/>
            <a:ext cx="1600200" cy="36576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94760" y="1737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Master: GTPR-DT+1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GTPR (up+down)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49240" y="1801368"/>
            <a:ext cx="13716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0" y="1143000"/>
            <a:ext cx="1600200" cy="1325880"/>
          </a:xfrm>
          <a:prstGeom prst="rect">
            <a:avLst/>
          </a:prstGeom>
          <a:solidFill>
            <a:srgbClr val="EAF3DE"/>
          </a:solidFill>
          <a:ln w="12700">
            <a:solidFill>
              <a:srgbClr val="639922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1143000"/>
            <a:ext cx="1600200" cy="36576"/>
          </a:xfrm>
          <a:prstGeom prst="rect">
            <a:avLst/>
          </a:prstGeom>
          <a:solidFill>
            <a:srgbClr val="639922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Down-Count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1737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Master: GTPR-DT-1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86600" y="1801368"/>
            <a:ext cx="13716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223760" y="1143000"/>
            <a:ext cx="1600200" cy="1325880"/>
          </a:xfrm>
          <a:prstGeom prst="rect">
            <a:avLst/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0" y="1143000"/>
            <a:ext cx="1600200" cy="36576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69480" y="1737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Master: DT-1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0 (down+up)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Counters Working Together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154680"/>
            <a:ext cx="8229600" cy="530352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154680"/>
            <a:ext cx="54864" cy="53035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182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GPT16n.GTCNT (Master)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0" y="31821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wave: 0 to GTPR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PWM cycle and defines section boundaries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794760"/>
            <a:ext cx="8229600" cy="530352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794760"/>
            <a:ext cx="54864" cy="53035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822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GPT16n+1.GTCNT (Slave 1)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931920" y="38221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counter + GTDVU offset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GTDVU to GTPR+GTDVU  |  Negative-phase compare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434840"/>
            <a:ext cx="8229600" cy="530352"/>
          </a:xfrm>
          <a:prstGeom prst="rect">
            <a:avLst/>
          </a:prstGeom>
          <a:solidFill>
            <a:srgbClr val="FAECE7"/>
          </a:solidFill>
          <a:ln w="6350">
            <a:solidFill>
              <a:srgbClr val="D85A30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4434840"/>
            <a:ext cx="54864" cy="530352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462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GPT16n+2.GTCNT (Slave 2)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931920" y="44622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triangle wave — active only in crest/trough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accurate duty at 0% and 100% boundaries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Match &amp; Dead Time Operation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RA2T1 Manual Table 20.34 — Waveform Generation Logic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2011680"/>
          </a:xfrm>
          <a:prstGeom prst="rect">
            <a:avLst/>
          </a:prstGeom>
          <a:solidFill>
            <a:srgbClr val="E6F1FB"/>
          </a:solidFill>
          <a:ln w="10160">
            <a:solidFill>
              <a:srgbClr val="378ADD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3931920" cy="36576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Sections (Up &amp; Down)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 ON: 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GPT16n.GTCNT vs GTCCRA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 OFF: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GPT16n+1.GTCNT vs GTCCRA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3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 OFF: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GPT16n+2.GTCNT vs GTCCRC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 ON: 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GPT16n+1.GTCNT vs GTCCRC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931920" cy="2011680"/>
          </a:xfrm>
          <a:prstGeom prst="rect">
            <a:avLst/>
          </a:prstGeom>
          <a:solidFill>
            <a:srgbClr val="FAEEDA"/>
          </a:solidFill>
          <a:ln w="10160">
            <a:solidFill>
              <a:srgbClr val="BA7517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3931920" cy="36576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 &amp; Trough Sections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GPT16n+2.GTCNT (slave 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GTCCRC / GTCCRE registers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compare match operations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linearity at duty 0% and 100%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priority in trough, ON priority in crest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FCEBEB"/>
          </a:solidFill>
          <a:ln w="10160">
            <a:solidFill>
              <a:srgbClr val="A32D2D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383280"/>
            <a:ext cx="8229600" cy="36576"/>
          </a:xfrm>
          <a:prstGeom prst="rect">
            <a:avLst/>
          </a:prstGeom>
          <a:solidFill>
            <a:srgbClr val="A32D2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474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Dead Time Guard (GTDVU Register)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79476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 guard between positive and negative phase outputs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Shoot-through in H-bridge / half-bridge motor driver circuits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OFF &gt; dead time delay &gt; Negative ON (and vice versa)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= master GTCNT ≤ GTDVU  |  Crest = slave1 GTCNT &gt; GTPR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</a:t>
            </a:r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buffer operation for GTDVU in complementary PWM mode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Duty Cycle &amp; Key Constraints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1371600"/>
          </a:xfrm>
          <a:prstGeom prst="rect">
            <a:avLst/>
          </a:prstGeom>
          <a:solidFill>
            <a:srgbClr val="EAF3DE"/>
          </a:solidFill>
          <a:ln w="10160">
            <a:solidFill>
              <a:srgbClr val="639922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63992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99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Duty Cycle to Compare Match Conversion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8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GTCCRA ≥ GTPR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= 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OFF, Negative 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GTCCRA = 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= 100%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ON, Negative OFF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251460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514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= GTPR - (duty_percent × GTPR / 100)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Implementation Constraints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3 consecutive GPT16 channels (ch0, ch1, ch2)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GTDVU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&lt; GTDVU &lt; GTPR  |  No buffer operation allowed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GTCCRD Write 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ch0 first, ch1 second, ch2 LAST (triggers transfer)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3 Double Buf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GTBER2.CP3DB = 1 on all 3 channels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4 Immediate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guaranteed in up/down-counting middle sections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Start/Stop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master channel GTCR.CST controls all 3 channels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complementary PWM modes implemented (crest, trough, both, immediate)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411480" cy="41148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0116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output with hardware dead time for motor control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411480" cy="41148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65176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12-step initialization sequence per RA2T1 User's Manual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411480" cy="41148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2918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RTT submenu for runtime configuration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9319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buffer chain with slave ch2 LAST write rule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2B3E8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7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github.com/transinh0707-debug/develop  |  Board: FPB-RA2T1  |  FSP + e2studio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 Detailed Design - GPT Complementary PWM Modes 1-4</dc:title>
  <dc:subject>RA2T1 Manual Sections 20.3.3.7 and 20.3.3.8</dc:subject>
  <dc:creator>transinh0707-debug</dc:creator>
  <cp:lastModifiedBy>transinh0707-debug</cp:lastModifiedBy>
  <cp:revision>1</cp:revision>
  <dcterms:created xsi:type="dcterms:W3CDTF">2026-03-30T14:53:27Z</dcterms:created>
  <dcterms:modified xsi:type="dcterms:W3CDTF">2026-03-30T14:53:27Z</dcterms:modified>
</cp:coreProperties>
</file>